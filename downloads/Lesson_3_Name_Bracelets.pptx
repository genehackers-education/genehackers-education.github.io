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03120" y="205740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211F2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Name Bracelet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2011680" y="3611880"/>
            <a:ext cx="5120640" cy="566928"/>
          </a:xfrm>
          <a:prstGeom prst="roundRect">
            <a:avLst>
              <a:gd name="adj" fmla="val 48387"/>
            </a:avLst>
          </a:prstGeom>
          <a:solidFill>
            <a:srgbClr val="FB9CB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011680" y="361188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2A2E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Can you make a sequence that codes for your name?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457200"/>
            <a:ext cx="2743200" cy="566928"/>
          </a:xfrm>
          <a:prstGeom prst="roundRect">
            <a:avLst>
              <a:gd name="adj" fmla="val 19355"/>
            </a:avLst>
          </a:prstGeom>
          <a:solidFill>
            <a:srgbClr val="FDD42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200400" y="4572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1F2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Materials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0" y="41148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D442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35040" y="41148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D442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〰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21208" y="1508760"/>
            <a:ext cx="18745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21208" y="161848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🔴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94360" y="2185416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1F22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Beads in 4 colors (A, T, C, G)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596896" y="1508760"/>
            <a:ext cx="18745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96896" y="161848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🧵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670048" y="2185416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1F22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String or stretchy cord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72584" y="1508760"/>
            <a:ext cx="18745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72584" y="161848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📋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745736" y="2185416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1F22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Codon dictionary (code key)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748272" y="1508760"/>
            <a:ext cx="18745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48272" y="161848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✂️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821424" y="2185416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1F22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Scissors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4846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A6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UChicago Genehackers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9B6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Step 1:  </a:t>
            </a:r>
            <a:pPr algn="l" indent="0" marL="0">
              <a:buNone/>
            </a:pPr>
            <a:r>
              <a:rPr lang="en-US" sz="2600" b="1" dirty="0">
                <a:solidFill>
                  <a:srgbClr val="211F2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Cut the string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2000"/>
              </a:lnSpc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3D3A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Using scissors, cut a piece of string about a foot long.</a:t>
            </a:r>
            <a:endParaRPr lang="en-US" sz="1500" dirty="0"/>
          </a:p>
          <a:p>
            <a:pPr marL="203200" indent="-203200">
              <a:lnSpc>
                <a:spcPct val="102000"/>
              </a:lnSpc>
              <a:buSzPct val="100000"/>
              <a:buChar char="–"/>
            </a:pPr>
            <a:r>
              <a:rPr lang="en-US" sz="1500" dirty="0">
                <a:solidFill>
                  <a:srgbClr val="3D3A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Tie a simple knot near one end so the beads won’t fall off.</a:t>
            </a:r>
            <a:endParaRPr lang="en-US" sz="1500" dirty="0"/>
          </a:p>
        </p:txBody>
      </p:sp>
      <p:pic>
        <p:nvPicPr>
          <p:cNvPr id="4" name="Image 0" descr="assets/red_vir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011680"/>
            <a:ext cx="1188720" cy="1065093"/>
          </a:xfrm>
          <a:prstGeom prst="rect">
            <a:avLst/>
          </a:prstGeom>
        </p:spPr>
      </p:pic>
      <p:pic>
        <p:nvPicPr>
          <p:cNvPr id="5" name="Image 1" descr="assets/bubbl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4343400"/>
            <a:ext cx="457200" cy="512309"/>
          </a:xfrm>
          <a:prstGeom prst="rect">
            <a:avLst/>
          </a:prstGeom>
        </p:spPr>
      </p:pic>
      <p:pic>
        <p:nvPicPr>
          <p:cNvPr id="6" name="Image 2" descr="assets/squigg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201168"/>
            <a:ext cx="502920" cy="20921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02920" y="4846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A6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UChicago Genehackers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9B6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Step 2:  </a:t>
            </a:r>
            <a:pPr algn="l" indent="0" marL="0">
              <a:buNone/>
            </a:pPr>
            <a:r>
              <a:rPr lang="en-US" sz="2600" b="1" dirty="0">
                <a:solidFill>
                  <a:srgbClr val="211F2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Choose a name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2000"/>
              </a:lnSpc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3D3A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Pick a name to spell in DNA code. Some ideas:</a:t>
            </a:r>
            <a:endParaRPr lang="en-US" sz="1500" dirty="0"/>
          </a:p>
          <a:p>
            <a:pPr marL="203200" indent="-203200">
              <a:lnSpc>
                <a:spcPct val="102000"/>
              </a:lnSpc>
              <a:buSzPct val="100000"/>
              <a:buChar char="–"/>
            </a:pPr>
            <a:r>
              <a:rPr lang="en-US" sz="1500" dirty="0">
                <a:solidFill>
                  <a:srgbClr val="3D3A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Your own name, a pet’s name, a hero’s name, or a favorite animal.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0" y="17373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B9CB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?</a:t>
            </a:r>
            <a:endParaRPr lang="en-US" sz="12000" dirty="0"/>
          </a:p>
        </p:txBody>
      </p:sp>
      <p:pic>
        <p:nvPicPr>
          <p:cNvPr id="5" name="Image 0" descr="assets/bubb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7888" y="4370832"/>
            <a:ext cx="457200" cy="512309"/>
          </a:xfrm>
          <a:prstGeom prst="rect">
            <a:avLst/>
          </a:prstGeom>
        </p:spPr>
      </p:pic>
      <p:pic>
        <p:nvPicPr>
          <p:cNvPr id="6" name="Image 1" descr="assets/blue_do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82880"/>
            <a:ext cx="457200" cy="3143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4846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A6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UChicago Genehackers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9B6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Step 3:  </a:t>
            </a:r>
            <a:pPr indent="0" marL="0">
              <a:buNone/>
            </a:pPr>
            <a:r>
              <a:rPr lang="en-US" sz="2600" b="1" dirty="0">
                <a:solidFill>
                  <a:srgbClr val="211F2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Spell your name in code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188720"/>
            <a:ext cx="4297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2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3D3A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Use the codon dictionary to look up each letter.</a:t>
            </a:r>
            <a:endParaRPr lang="en-US" sz="1400" dirty="0"/>
          </a:p>
          <a:p>
            <a:pPr marL="203200" indent="-203200">
              <a:lnSpc>
                <a:spcPct val="102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3D3A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Every letter becomes three beads (a codon).</a:t>
            </a:r>
            <a:endParaRPr lang="en-US" sz="1400" dirty="0"/>
          </a:p>
          <a:p>
            <a:pPr marL="203200" indent="-203200">
              <a:lnSpc>
                <a:spcPct val="102000"/>
              </a:lnSpc>
              <a:buSzPct val="100000"/>
              <a:buChar char="–"/>
            </a:pPr>
            <a:r>
              <a:rPr lang="en-US" sz="1400" dirty="0">
                <a:solidFill>
                  <a:srgbClr val="3D3A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Write the colors on scratch paper first, then thread them.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33832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6A6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Example — “MAX”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7490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1F2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32688" y="3813048"/>
            <a:ext cx="256032" cy="256032"/>
          </a:xfrm>
          <a:prstGeom prst="ellipse">
            <a:avLst/>
          </a:prstGeom>
          <a:solidFill>
            <a:srgbClr val="FD4426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3813048"/>
            <a:ext cx="256032" cy="256032"/>
          </a:xfrm>
          <a:prstGeom prst="ellipse">
            <a:avLst/>
          </a:prstGeom>
          <a:solidFill>
            <a:srgbClr val="21A8D8"/>
          </a:solidFill>
          <a:ln/>
        </p:spPr>
      </p:sp>
      <p:sp>
        <p:nvSpPr>
          <p:cNvPr id="8" name="Shape 6"/>
          <p:cNvSpPr/>
          <p:nvPr/>
        </p:nvSpPr>
        <p:spPr>
          <a:xfrm>
            <a:off x="1517904" y="3813048"/>
            <a:ext cx="256032" cy="256032"/>
          </a:xfrm>
          <a:prstGeom prst="ellipse">
            <a:avLst/>
          </a:prstGeom>
          <a:solidFill>
            <a:srgbClr val="1DC48E"/>
          </a:solidFill>
          <a:ln/>
        </p:spPr>
      </p:sp>
      <p:sp>
        <p:nvSpPr>
          <p:cNvPr id="9" name="Text 7"/>
          <p:cNvSpPr/>
          <p:nvPr/>
        </p:nvSpPr>
        <p:spPr>
          <a:xfrm>
            <a:off x="1920240" y="37490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1F2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304288" y="3813048"/>
            <a:ext cx="256032" cy="256032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11" name="Shape 9"/>
          <p:cNvSpPr/>
          <p:nvPr/>
        </p:nvSpPr>
        <p:spPr>
          <a:xfrm>
            <a:off x="2596896" y="3813048"/>
            <a:ext cx="256032" cy="256032"/>
          </a:xfrm>
          <a:prstGeom prst="ellipse">
            <a:avLst/>
          </a:prstGeom>
          <a:solidFill>
            <a:srgbClr val="FD4426"/>
          </a:solidFill>
          <a:ln/>
        </p:spPr>
      </p:sp>
      <p:sp>
        <p:nvSpPr>
          <p:cNvPr id="12" name="Shape 10"/>
          <p:cNvSpPr/>
          <p:nvPr/>
        </p:nvSpPr>
        <p:spPr>
          <a:xfrm>
            <a:off x="2889504" y="3813048"/>
            <a:ext cx="256032" cy="256032"/>
          </a:xfrm>
          <a:prstGeom prst="ellipse">
            <a:avLst/>
          </a:prstGeom>
          <a:solidFill>
            <a:srgbClr val="21A8D8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37490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1F2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X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675888" y="3813048"/>
            <a:ext cx="256032" cy="256032"/>
          </a:xfrm>
          <a:prstGeom prst="ellipse">
            <a:avLst/>
          </a:prstGeom>
          <a:solidFill>
            <a:srgbClr val="1DC48E"/>
          </a:solidFill>
          <a:ln/>
        </p:spPr>
      </p:sp>
      <p:sp>
        <p:nvSpPr>
          <p:cNvPr id="15" name="Shape 13"/>
          <p:cNvSpPr/>
          <p:nvPr/>
        </p:nvSpPr>
        <p:spPr>
          <a:xfrm>
            <a:off x="3968496" y="3813048"/>
            <a:ext cx="256032" cy="256032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16" name="Shape 14"/>
          <p:cNvSpPr/>
          <p:nvPr/>
        </p:nvSpPr>
        <p:spPr>
          <a:xfrm>
            <a:off x="4261104" y="3813048"/>
            <a:ext cx="256032" cy="256032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0" y="13258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6A6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Code key (bead colors)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1691640"/>
            <a:ext cx="411480" cy="411480"/>
          </a:xfrm>
          <a:prstGeom prst="ellipse">
            <a:avLst/>
          </a:prstGeom>
          <a:solidFill>
            <a:srgbClr val="FD4426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29400" y="1691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A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= red bead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26480" y="2258568"/>
            <a:ext cx="411480" cy="411480"/>
          </a:xfrm>
          <a:prstGeom prst="ellipse">
            <a:avLst/>
          </a:prstGeom>
          <a:solidFill>
            <a:srgbClr val="21A8D8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2258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29400" y="22585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A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= blue bead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26480" y="2825496"/>
            <a:ext cx="411480" cy="411480"/>
          </a:xfrm>
          <a:prstGeom prst="ellipse">
            <a:avLst/>
          </a:prstGeom>
          <a:solidFill>
            <a:srgbClr val="1DC48E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28254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29400" y="282549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A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= green bead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126480" y="3392424"/>
            <a:ext cx="411480" cy="41148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28" name="Text 26"/>
          <p:cNvSpPr/>
          <p:nvPr/>
        </p:nvSpPr>
        <p:spPr>
          <a:xfrm>
            <a:off x="6126480" y="33924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629400" y="339242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A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= purple bead</a:t>
            </a:r>
            <a:endParaRPr lang="en-US" sz="1300" dirty="0"/>
          </a:p>
        </p:txBody>
      </p:sp>
      <p:pic>
        <p:nvPicPr>
          <p:cNvPr id="30" name="Image 0" descr="assets/bubb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343400"/>
            <a:ext cx="457200" cy="512309"/>
          </a:xfrm>
          <a:prstGeom prst="rect">
            <a:avLst/>
          </a:prstGeom>
        </p:spPr>
      </p:pic>
      <p:pic>
        <p:nvPicPr>
          <p:cNvPr id="31" name="Image 1" descr="assets/squigg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201168"/>
            <a:ext cx="502920" cy="209215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02920" y="4846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A6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UChicago Genehackers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9B6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Step 4:  </a:t>
            </a:r>
            <a:pPr algn="l" indent="0" marL="0">
              <a:buNone/>
            </a:pPr>
            <a:r>
              <a:rPr lang="en-US" sz="2600" b="1" dirty="0">
                <a:solidFill>
                  <a:srgbClr val="211F2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Share with others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2000"/>
              </a:lnSpc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3D3A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Swap bracelets with a friend.</a:t>
            </a:r>
            <a:endParaRPr lang="en-US" sz="1500" dirty="0"/>
          </a:p>
          <a:p>
            <a:pPr marL="203200" indent="-203200">
              <a:lnSpc>
                <a:spcPct val="102000"/>
              </a:lnSpc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3D3A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Use the codon dictionary to decode the hidden name.</a:t>
            </a:r>
            <a:endParaRPr lang="en-US" sz="1500" dirty="0"/>
          </a:p>
          <a:p>
            <a:pPr marL="203200" indent="-203200">
              <a:lnSpc>
                <a:spcPct val="102000"/>
              </a:lnSpc>
              <a:buSzPct val="100000"/>
              <a:buChar char="–"/>
            </a:pPr>
            <a:r>
              <a:rPr lang="en-US" sz="1500" dirty="0">
                <a:solidFill>
                  <a:srgbClr val="3D3A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Notice: different bead patterns can stand for the same letter — real DNA has this too!</a:t>
            </a:r>
            <a:endParaRPr lang="en-US" sz="1500" dirty="0"/>
          </a:p>
        </p:txBody>
      </p:sp>
      <p:pic>
        <p:nvPicPr>
          <p:cNvPr id="4" name="Image 0" descr="assets/green_vir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828800"/>
            <a:ext cx="1280160" cy="1380565"/>
          </a:xfrm>
          <a:prstGeom prst="rect">
            <a:avLst/>
          </a:prstGeom>
        </p:spPr>
      </p:pic>
      <p:pic>
        <p:nvPicPr>
          <p:cNvPr id="5" name="Image 1" descr="assets/bubbl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888" y="4370832"/>
            <a:ext cx="457200" cy="512309"/>
          </a:xfrm>
          <a:prstGeom prst="rect">
            <a:avLst/>
          </a:prstGeom>
        </p:spPr>
      </p:pic>
      <p:pic>
        <p:nvPicPr>
          <p:cNvPr id="6" name="Image 2" descr="assets/blue_do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82880"/>
            <a:ext cx="457200" cy="31432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02920" y="4846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A6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UChicago Genehackers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11F2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Name bracelet: how did this work?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12F"/>
                </a:solidFill>
                <a:highlight>
                  <a:srgbClr val="FFE9A8"/>
                </a:highlight>
                <a:latin typeface="Quicksand" pitchFamily="34" charset="0"/>
                <a:ea typeface="Quicksand" pitchFamily="34" charset="-122"/>
                <a:cs typeface="Quicksand" pitchFamily="34" charset="-120"/>
              </a:rPr>
              <a:t>How many beads make one letter? How many DNA bases make one codon?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" y="1801368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–"/>
            </a:pPr>
            <a:r>
              <a:rPr lang="en-US" sz="1350" dirty="0">
                <a:solidFill>
                  <a:srgbClr val="3D3A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Three beads = one letter, just like three DNA bases = one codon.</a:t>
            </a:r>
            <a:endParaRPr lang="en-US" sz="1350" dirty="0"/>
          </a:p>
          <a:p>
            <a:pPr marL="203200" indent="-203200">
              <a:buSzPct val="100000"/>
              <a:buChar char="–"/>
            </a:pPr>
            <a:r>
              <a:rPr lang="en-US" sz="1350" dirty="0">
                <a:solidFill>
                  <a:srgbClr val="3D3A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 codon codes for one amino acid; a string of amino acids forms a protein.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3063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12F"/>
                </a:solidFill>
                <a:highlight>
                  <a:srgbClr val="FAD0D9"/>
                </a:highlight>
                <a:latin typeface="Quicksand" pitchFamily="34" charset="0"/>
                <a:ea typeface="Quicksand" pitchFamily="34" charset="-122"/>
                <a:cs typeface="Quicksand" pitchFamily="34" charset="-120"/>
              </a:rPr>
              <a:t>Does it make sense to read your bracelet backwards?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3630168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–"/>
            </a:pPr>
            <a:r>
              <a:rPr lang="en-US" sz="1350" dirty="0">
                <a:solidFill>
                  <a:srgbClr val="3D3A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No — DNA is read in one direction (5′ to 3′).</a:t>
            </a:r>
            <a:endParaRPr lang="en-US" sz="1350" dirty="0"/>
          </a:p>
          <a:p>
            <a:pPr marL="203200" indent="-203200">
              <a:buSzPct val="100000"/>
              <a:buChar char="–"/>
            </a:pPr>
            <a:r>
              <a:rPr lang="en-US" sz="1350" dirty="0">
                <a:solidFill>
                  <a:srgbClr val="3D3A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Reading it the wrong way would code for the wrong protein.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4846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A6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UChicago Genehackers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1F2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More about DNA!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2000"/>
              </a:lnSpc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3D3A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 gene is a section of DNA that codes for a trait.</a:t>
            </a:r>
            <a:endParaRPr lang="en-US" sz="1500" dirty="0"/>
          </a:p>
          <a:p>
            <a:pPr marL="203200" indent="-203200">
              <a:lnSpc>
                <a:spcPct val="102000"/>
              </a:lnSpc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3D3A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Your genes are the recipes for how you look...</a:t>
            </a:r>
            <a:endParaRPr lang="en-US" sz="1500" dirty="0"/>
          </a:p>
          <a:p>
            <a:pPr marL="203200" indent="-203200">
              <a:lnSpc>
                <a:spcPct val="102000"/>
              </a:lnSpc>
              <a:buSzPct val="100000"/>
              <a:buChar char="–"/>
            </a:pPr>
            <a:r>
              <a:rPr lang="en-US" sz="1500" dirty="0">
                <a:solidFill>
                  <a:srgbClr val="3D3A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...like your hair, your eyes, and your teeth.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669280" y="141732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6A6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Genes → traits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0" y="1874520"/>
            <a:ext cx="2377440" cy="493776"/>
          </a:xfrm>
          <a:prstGeom prst="roundRect">
            <a:avLst>
              <a:gd name="adj" fmla="val 22222"/>
            </a:avLst>
          </a:prstGeom>
          <a:solidFill>
            <a:srgbClr val="21A8D8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0" y="1874520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Hair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0" y="2514600"/>
            <a:ext cx="2377440" cy="493776"/>
          </a:xfrm>
          <a:prstGeom prst="roundRect">
            <a:avLst>
              <a:gd name="adj" fmla="val 22222"/>
            </a:avLst>
          </a:prstGeom>
          <a:solidFill>
            <a:srgbClr val="1DC48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0" y="2514600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Eyes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0" y="3154680"/>
            <a:ext cx="2377440" cy="493776"/>
          </a:xfrm>
          <a:prstGeom prst="roundRect">
            <a:avLst>
              <a:gd name="adj" fmla="val 22222"/>
            </a:avLst>
          </a:prstGeom>
          <a:solidFill>
            <a:srgbClr val="9B59B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0" y="3154680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Teeth</a:t>
            </a:r>
            <a:endParaRPr lang="en-US" sz="1400" dirty="0"/>
          </a:p>
        </p:txBody>
      </p:sp>
      <p:pic>
        <p:nvPicPr>
          <p:cNvPr id="11" name="Image 0" descr="assets/bubb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343400"/>
            <a:ext cx="457200" cy="512309"/>
          </a:xfrm>
          <a:prstGeom prst="rect">
            <a:avLst/>
          </a:prstGeom>
        </p:spPr>
      </p:pic>
      <p:pic>
        <p:nvPicPr>
          <p:cNvPr id="12" name="Image 1" descr="assets/squigg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201168"/>
            <a:ext cx="502920" cy="20921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2920" y="4846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A6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UChicago Genehackers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03120" y="21488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11F2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Thank You!</a:t>
            </a:r>
            <a:endParaRPr lang="en-US" sz="4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Name-in-DNA Bracelets</dc:title>
  <dc:subject>PptxGenJS Presentation</dc:subject>
  <dc:creator>UChicago Genehackers</dc:creator>
  <cp:lastModifiedBy>UChicago Genehackers</cp:lastModifiedBy>
  <cp:revision>1</cp:revision>
  <dcterms:created xsi:type="dcterms:W3CDTF">2026-06-25T00:48:45Z</dcterms:created>
  <dcterms:modified xsi:type="dcterms:W3CDTF">2026-06-25T00:48:45Z</dcterms:modified>
</cp:coreProperties>
</file>