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20574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DNA Extraction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011680" y="3611880"/>
            <a:ext cx="5120640" cy="566928"/>
          </a:xfrm>
          <a:prstGeom prst="roundRect">
            <a:avLst>
              <a:gd name="adj" fmla="val 48387"/>
            </a:avLst>
          </a:prstGeom>
          <a:solidFill>
            <a:srgbClr val="FB9CB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011680" y="36118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A2E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can we get DNA out of cells?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FDD4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0" y="457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411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D442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0" y="411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442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21208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Strawberry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96896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96896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🛍️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70048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Resealable bag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72584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45736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Dish soap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48272" y="150876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48272" y="1618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🧂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21424" y="2185416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Salt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1208" y="299923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🧪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94360" y="3675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Rubbing alcohol (cold)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596896" y="299923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96896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☕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670048" y="3675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Coffee filter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72584" y="299923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72584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🥤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745736" y="3675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Clear cup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48272" y="299923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48272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🥢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821424" y="367588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1F22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Stirrer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1: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Smash the cells!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Pull off any green leaves.</a:t>
            </a:r>
            <a:endParaRPr lang="en-US" sz="15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Seal the strawberry in the bag and mash it for about two minutes.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Breaking cells open like this is called lysing.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0" y="18288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🍓</a:t>
            </a:r>
            <a:endParaRPr lang="en-US" sz="12000" dirty="0"/>
          </a:p>
        </p:txBody>
      </p:sp>
      <p:pic>
        <p:nvPicPr>
          <p:cNvPr id="5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4370832"/>
            <a:ext cx="457200" cy="512309"/>
          </a:xfrm>
          <a:prstGeom prst="rect">
            <a:avLst/>
          </a:prstGeom>
        </p:spPr>
      </p:pic>
      <p:pic>
        <p:nvPicPr>
          <p:cNvPr id="6" name="Image 1" descr="assets/blue_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82880"/>
            <a:ext cx="457200" cy="3143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2: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Prepare the extraction liquid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a cup, mix: ½ cup water, 2 tsp dish soap, 1 tsp salt.</a:t>
            </a:r>
            <a:endParaRPr lang="en-US" sz="15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Stir gently — try not to make bubbles.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This is your DNA extraction liquid.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0" y="1417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A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recipe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9202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21A8D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½ cup water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25603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DC48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tsp dish soap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20040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B9CB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tsp salt</a:t>
            </a:r>
            <a:endParaRPr lang="en-US" sz="1300" dirty="0"/>
          </a:p>
        </p:txBody>
      </p:sp>
      <p:pic>
        <p:nvPicPr>
          <p:cNvPr id="11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343400"/>
            <a:ext cx="457200" cy="512309"/>
          </a:xfrm>
          <a:prstGeom prst="rect">
            <a:avLst/>
          </a:prstGeom>
        </p:spPr>
      </p:pic>
      <p:pic>
        <p:nvPicPr>
          <p:cNvPr id="12" name="Image 1" descr="assets/squig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01168"/>
            <a:ext cx="502920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3: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Chemically lyse the cells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Pour the extraction liquid into the bag with the mashed strawberry.</a:t>
            </a:r>
            <a:endParaRPr lang="en-US" sz="15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Gently mix for one more minute.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Soap breaks open the cell membranes; salt frees the DNA.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0" y="18288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🧴</a:t>
            </a:r>
            <a:endParaRPr lang="en-US" sz="11000" dirty="0"/>
          </a:p>
        </p:txBody>
      </p:sp>
      <p:pic>
        <p:nvPicPr>
          <p:cNvPr id="5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4370832"/>
            <a:ext cx="457200" cy="512309"/>
          </a:xfrm>
          <a:prstGeom prst="rect">
            <a:avLst/>
          </a:prstGeom>
        </p:spPr>
      </p:pic>
      <p:pic>
        <p:nvPicPr>
          <p:cNvPr id="6" name="Image 1" descr="assets/blue_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82880"/>
            <a:ext cx="457200" cy="3143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4: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Filter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Place a coffee filter over a clear cup.</a:t>
            </a:r>
            <a:endParaRPr lang="en-US" sz="15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Pour the mixture through to catch the pulp.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Now only the liquid (with the DNA) is left.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0" y="18288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☕</a:t>
            </a:r>
            <a:endParaRPr lang="en-US" sz="11000" dirty="0"/>
          </a:p>
        </p:txBody>
      </p:sp>
      <p:pic>
        <p:nvPicPr>
          <p:cNvPr id="5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343400"/>
            <a:ext cx="457200" cy="512309"/>
          </a:xfrm>
          <a:prstGeom prst="rect">
            <a:avLst/>
          </a:prstGeom>
        </p:spPr>
      </p:pic>
      <p:pic>
        <p:nvPicPr>
          <p:cNvPr id="6" name="Image 1" descr="assets/squig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01168"/>
            <a:ext cx="502920" cy="2092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B6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 5:  </a:t>
            </a:r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Extract the DNA!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Slowly pour cold rubbing alcohol down the side of the cup — do not stir.</a:t>
            </a:r>
            <a:endParaRPr lang="en-US" sz="1500" dirty="0"/>
          </a:p>
          <a:p>
            <a:pPr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white, cloudy layer appears: that is the DNA!</a:t>
            </a:r>
            <a:endParaRPr lang="en-US" sz="1500" dirty="0"/>
          </a:p>
          <a:p>
            <a:pPr marL="203200" indent="-203200">
              <a:lnSpc>
                <a:spcPct val="102000"/>
              </a:lnSpc>
              <a:buSzPct val="100000"/>
              <a:buChar char="–"/>
            </a:pPr>
            <a:r>
              <a:rPr lang="en-US" sz="150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Spool it onto a stirrer to lift it out.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0" y="14173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A6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DNA appears!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0" cy="2468880"/>
          </a:xfrm>
          <a:prstGeom prst="line">
            <a:avLst/>
          </a:prstGeom>
          <a:noFill/>
          <a:ln w="38100">
            <a:solidFill>
              <a:srgbClr val="6E6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691640"/>
            <a:ext cx="0" cy="2468880"/>
          </a:xfrm>
          <a:prstGeom prst="line">
            <a:avLst/>
          </a:prstGeom>
          <a:noFill/>
          <a:ln w="38100">
            <a:solidFill>
              <a:srgbClr val="6E6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56832" y="1737360"/>
            <a:ext cx="237744" cy="237744"/>
          </a:xfrm>
          <a:prstGeom prst="ellipse">
            <a:avLst/>
          </a:prstGeom>
          <a:solidFill>
            <a:srgbClr val="FD4426"/>
          </a:solidFill>
          <a:ln/>
        </p:spPr>
      </p:sp>
      <p:sp>
        <p:nvSpPr>
          <p:cNvPr id="8" name="Shape 6"/>
          <p:cNvSpPr/>
          <p:nvPr/>
        </p:nvSpPr>
        <p:spPr>
          <a:xfrm>
            <a:off x="7370064" y="1737360"/>
            <a:ext cx="237744" cy="237744"/>
          </a:xfrm>
          <a:prstGeom prst="ellipse">
            <a:avLst/>
          </a:prstGeom>
          <a:solidFill>
            <a:srgbClr val="21A8D8"/>
          </a:solidFill>
          <a:ln/>
        </p:spPr>
      </p:sp>
      <p:sp>
        <p:nvSpPr>
          <p:cNvPr id="9" name="Shape 7"/>
          <p:cNvSpPr/>
          <p:nvPr/>
        </p:nvSpPr>
        <p:spPr>
          <a:xfrm>
            <a:off x="6876288" y="1856232"/>
            <a:ext cx="5120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2103120"/>
            <a:ext cx="237744" cy="237744"/>
          </a:xfrm>
          <a:prstGeom prst="ellipse">
            <a:avLst/>
          </a:prstGeom>
          <a:solidFill>
            <a:srgbClr val="1DC48E"/>
          </a:solidFill>
          <a:ln/>
        </p:spPr>
      </p:sp>
      <p:sp>
        <p:nvSpPr>
          <p:cNvPr id="11" name="Shape 9"/>
          <p:cNvSpPr/>
          <p:nvPr/>
        </p:nvSpPr>
        <p:spPr>
          <a:xfrm>
            <a:off x="7370064" y="2103120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2" name="Shape 10"/>
          <p:cNvSpPr/>
          <p:nvPr/>
        </p:nvSpPr>
        <p:spPr>
          <a:xfrm>
            <a:off x="6876288" y="2221992"/>
            <a:ext cx="5120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6832" y="2468880"/>
            <a:ext cx="237744" cy="237744"/>
          </a:xfrm>
          <a:prstGeom prst="ellipse">
            <a:avLst/>
          </a:prstGeom>
          <a:solidFill>
            <a:srgbClr val="21A8D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70064" y="2468880"/>
            <a:ext cx="237744" cy="237744"/>
          </a:xfrm>
          <a:prstGeom prst="ellipse">
            <a:avLst/>
          </a:prstGeom>
          <a:solidFill>
            <a:srgbClr val="FD44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876288" y="2587752"/>
            <a:ext cx="5120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2834640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0064" y="2834640"/>
            <a:ext cx="237744" cy="237744"/>
          </a:xfrm>
          <a:prstGeom prst="ellipse">
            <a:avLst/>
          </a:prstGeom>
          <a:solidFill>
            <a:srgbClr val="1DC48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76288" y="2953512"/>
            <a:ext cx="5120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6832" y="3200400"/>
            <a:ext cx="237744" cy="237744"/>
          </a:xfrm>
          <a:prstGeom prst="ellipse">
            <a:avLst/>
          </a:prstGeom>
          <a:solidFill>
            <a:srgbClr val="FD442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70064" y="3200400"/>
            <a:ext cx="237744" cy="237744"/>
          </a:xfrm>
          <a:prstGeom prst="ellipse">
            <a:avLst/>
          </a:prstGeom>
          <a:solidFill>
            <a:srgbClr val="21A8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76288" y="3319272"/>
            <a:ext cx="5120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832" y="3566160"/>
            <a:ext cx="237744" cy="237744"/>
          </a:xfrm>
          <a:prstGeom prst="ellipse">
            <a:avLst/>
          </a:prstGeom>
          <a:solidFill>
            <a:srgbClr val="21A8D8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0064" y="3566160"/>
            <a:ext cx="237744" cy="237744"/>
          </a:xfrm>
          <a:prstGeom prst="ellipse">
            <a:avLst/>
          </a:prstGeom>
          <a:solidFill>
            <a:srgbClr val="FD4426"/>
          </a:solidFill>
          <a:ln/>
        </p:spPr>
      </p:sp>
      <p:sp>
        <p:nvSpPr>
          <p:cNvPr id="24" name="Shape 22"/>
          <p:cNvSpPr/>
          <p:nvPr/>
        </p:nvSpPr>
        <p:spPr>
          <a:xfrm>
            <a:off x="6876288" y="3685032"/>
            <a:ext cx="5120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6832" y="3931920"/>
            <a:ext cx="237744" cy="237744"/>
          </a:xfrm>
          <a:prstGeom prst="ellipse">
            <a:avLst/>
          </a:prstGeom>
          <a:solidFill>
            <a:srgbClr val="1DC48E"/>
          </a:solidFill>
          <a:ln/>
        </p:spPr>
      </p:sp>
      <p:sp>
        <p:nvSpPr>
          <p:cNvPr id="26" name="Shape 24"/>
          <p:cNvSpPr/>
          <p:nvPr/>
        </p:nvSpPr>
        <p:spPr>
          <a:xfrm>
            <a:off x="7370064" y="3931920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7" name="Shape 25"/>
          <p:cNvSpPr/>
          <p:nvPr/>
        </p:nvSpPr>
        <p:spPr>
          <a:xfrm>
            <a:off x="6876288" y="4050792"/>
            <a:ext cx="512064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pic>
        <p:nvPicPr>
          <p:cNvPr id="28" name="Image 0" descr="assets/bub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4370832"/>
            <a:ext cx="457200" cy="512309"/>
          </a:xfrm>
          <a:prstGeom prst="rect">
            <a:avLst/>
          </a:prstGeom>
        </p:spPr>
      </p:pic>
      <p:pic>
        <p:nvPicPr>
          <p:cNvPr id="29" name="Image 1" descr="assets/blue_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82880"/>
            <a:ext cx="457200" cy="31432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DNA extraction: how did this work?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12F"/>
                </a:solidFill>
                <a:highlight>
                  <a:srgbClr val="FFE9A8"/>
                </a:highlight>
                <a:latin typeface="Quicksand" pitchFamily="34" charset="0"/>
                <a:ea typeface="Quicksand" pitchFamily="34" charset="-122"/>
                <a:cs typeface="Quicksand" pitchFamily="34" charset="-120"/>
              </a:rPr>
              <a:t>Why do we use dish soap and salt?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801368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Cell membranes are made of fat, and soap breaks down fat — opening the cells.</a:t>
            </a:r>
            <a:endParaRPr lang="en-US" sz="1350" dirty="0"/>
          </a:p>
          <a:p>
            <a:pPr marL="203200" indent="-203200"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Salt helps separate the DNA from the proteins around it.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12F"/>
                </a:solidFill>
                <a:highlight>
                  <a:srgbClr val="FAD0D9"/>
                </a:highlight>
                <a:latin typeface="Quicksand" pitchFamily="34" charset="0"/>
                <a:ea typeface="Quicksand" pitchFamily="34" charset="-122"/>
                <a:cs typeface="Quicksand" pitchFamily="34" charset="-120"/>
              </a:rPr>
              <a:t>Why does the alcohol make the DNA appear?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630168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DNA can’t dissolve in alcohol, so it clumps together and becomes visible.</a:t>
            </a:r>
            <a:endParaRPr lang="en-US" sz="1350" dirty="0"/>
          </a:p>
          <a:p>
            <a:pPr marL="203200" indent="-203200">
              <a:buSzPct val="100000"/>
              <a:buChar char="–"/>
            </a:pPr>
            <a:r>
              <a:rPr lang="en-US" sz="1350" dirty="0">
                <a:solidFill>
                  <a:srgbClr val="3D3A3C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Getting DNA out like this is the first step of every real engineering project.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4846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UChicago Genehackers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1F2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Thank You!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Strawberry DNA Extraction</dc:title>
  <dc:subject>PptxGenJS Presentation</dc:subject>
  <dc:creator>UChicago Genehackers</dc:creator>
  <cp:lastModifiedBy>UChicago Genehackers</cp:lastModifiedBy>
  <cp:revision>1</cp:revision>
  <dcterms:created xsi:type="dcterms:W3CDTF">2026-06-25T00:48:45Z</dcterms:created>
  <dcterms:modified xsi:type="dcterms:W3CDTF">2026-06-25T00:48:45Z</dcterms:modified>
</cp:coreProperties>
</file>