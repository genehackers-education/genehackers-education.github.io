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4974CC9-3F55-EEA1-8A15-A7C6AF8102AB}" v="1" dt="2026-06-25T05:11:07.7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51E070-917B-45F1-9A32-CD6F354DC318}" type="datetimeFigureOut">
              <a:t>6/24/2026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6341C3-BF4D-4D65-8ABD-395F693960D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459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03120" y="182880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Design-a-Synbio-</a:t>
            </a:r>
            <a:endParaRPr lang="en-US" sz="38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Solution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2011680" y="3611880"/>
            <a:ext cx="5120640" cy="566928"/>
          </a:xfrm>
          <a:prstGeom prst="roundRect">
            <a:avLst>
              <a:gd name="adj" fmla="val 48387"/>
            </a:avLst>
          </a:prstGeom>
          <a:solidFill>
            <a:srgbClr val="FB9CB4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011680" y="361188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A2A2E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Can you engineer life to solve a real problem?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9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Now you’re the engineer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You’ve learned to read DNA, edit it (CRISPR), and add new genes (glow).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Synthetic biologists build with standard “parts.”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 design = a chassis (the body) + a sensor (input) + an output (response).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Pick the parts that solve your problem!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0" y="14173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Build from parts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0" y="1874520"/>
            <a:ext cx="2971800" cy="512064"/>
          </a:xfrm>
          <a:prstGeom prst="roundRect">
            <a:avLst>
              <a:gd name="adj" fmla="val 21429"/>
            </a:avLst>
          </a:prstGeom>
          <a:solidFill>
            <a:srgbClr val="1DC48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CHASSIS  (the body)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0" y="237744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+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669280" y="2615184"/>
            <a:ext cx="2971800" cy="512064"/>
          </a:xfrm>
          <a:prstGeom prst="roundRect">
            <a:avLst>
              <a:gd name="adj" fmla="val 21429"/>
            </a:avLst>
          </a:prstGeom>
          <a:solidFill>
            <a:srgbClr val="21A8D8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0" y="26151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SENSOR  (input)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0" y="311810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+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69280" y="3355848"/>
            <a:ext cx="2971800" cy="512064"/>
          </a:xfrm>
          <a:prstGeom prst="roundRect">
            <a:avLst>
              <a:gd name="adj" fmla="val 21429"/>
            </a:avLst>
          </a:prstGeom>
          <a:solidFill>
            <a:srgbClr val="9B59B6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0" y="33558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OUTPUT  (response)</a:t>
            </a:r>
            <a:endParaRPr lang="en-US" sz="1300" dirty="0"/>
          </a:p>
        </p:txBody>
      </p:sp>
      <p:pic>
        <p:nvPicPr>
          <p:cNvPr id="13" name="Image 0" descr="assets/bubb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4370832"/>
            <a:ext cx="457200" cy="512309"/>
          </a:xfrm>
          <a:prstGeom prst="rect">
            <a:avLst/>
          </a:prstGeom>
        </p:spPr>
      </p:pic>
      <p:pic>
        <p:nvPicPr>
          <p:cNvPr id="14" name="Image 1" descr="assets/blue_do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" y="182880"/>
            <a:ext cx="457200" cy="31432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9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457200"/>
            <a:ext cx="2743200" cy="566928"/>
          </a:xfrm>
          <a:prstGeom prst="roundRect">
            <a:avLst>
              <a:gd name="adj" fmla="val 19355"/>
            </a:avLst>
          </a:prstGeom>
          <a:solidFill>
            <a:srgbClr val="FDD4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3200400" y="4572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Materials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286000" y="4114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FD442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035040" y="4114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D442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〰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67512" y="1508760"/>
            <a:ext cx="24688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67512" y="161848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40664" y="2185416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Parts cards (chassis / sensor / output)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37560" y="1508760"/>
            <a:ext cx="24688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37560" y="161848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❓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10712" y="2185416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Problem cards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07608" y="1508760"/>
            <a:ext cx="24688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07608" y="161848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📝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080760" y="2185416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Design worksheet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9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E9B6E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Step 1:  </a:t>
            </a: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Pick a problem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Each group draws a problem card.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For example: “a village’s water might contain arsenic.”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This is the real-world problem your organism will solve.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0" y="14173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Problems to solve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60720" y="192024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21A8D8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760720" y="19202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Unsafe water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760720" y="256032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FD4426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760720" y="2560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Plastic waste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760720" y="32004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9B59B6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76072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Oil spill</a:t>
            </a:r>
            <a:endParaRPr lang="en-US" sz="1300" dirty="0"/>
          </a:p>
        </p:txBody>
      </p:sp>
      <p:pic>
        <p:nvPicPr>
          <p:cNvPr id="11" name="Image 0" descr="assets/bubb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4343400"/>
            <a:ext cx="457200" cy="512309"/>
          </a:xfrm>
          <a:prstGeom prst="rect">
            <a:avLst/>
          </a:prstGeom>
        </p:spPr>
      </p:pic>
      <p:pic>
        <p:nvPicPr>
          <p:cNvPr id="12" name="Image 1" descr="assets/squig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201168"/>
            <a:ext cx="502920" cy="20921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9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E9B6E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Step 2:  </a:t>
            </a: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Choose your parts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Pick a chassis (E. coli, yeast, or algae).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Pick a sensor — what will it detect? (arsenic, sugar, light...)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Pick an output — what will it do? (glow, change color, make medicine...).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0" y="14173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Your build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0" y="1874520"/>
            <a:ext cx="2971800" cy="457200"/>
          </a:xfrm>
          <a:prstGeom prst="roundRect">
            <a:avLst>
              <a:gd name="adj" fmla="val 24000"/>
            </a:avLst>
          </a:prstGeom>
          <a:solidFill>
            <a:srgbClr val="1DC48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0" y="1874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Chassis:  E. coli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0" y="2395728"/>
            <a:ext cx="2971800" cy="457200"/>
          </a:xfrm>
          <a:prstGeom prst="roundRect">
            <a:avLst>
              <a:gd name="adj" fmla="val 24000"/>
            </a:avLst>
          </a:prstGeom>
          <a:solidFill>
            <a:srgbClr val="21A8D8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0" y="239572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Sensor:  arsenic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0" y="2916936"/>
            <a:ext cx="2971800" cy="457200"/>
          </a:xfrm>
          <a:prstGeom prst="roundRect">
            <a:avLst>
              <a:gd name="adj" fmla="val 24000"/>
            </a:avLst>
          </a:prstGeom>
          <a:solidFill>
            <a:srgbClr val="9B59B6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0" y="291693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Output:  glow</a:t>
            </a:r>
            <a:endParaRPr lang="en-US" sz="1250" dirty="0"/>
          </a:p>
        </p:txBody>
      </p:sp>
      <p:pic>
        <p:nvPicPr>
          <p:cNvPr id="11" name="Image 0" descr="assets/bubb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4370832"/>
            <a:ext cx="457200" cy="512309"/>
          </a:xfrm>
          <a:prstGeom prst="rect">
            <a:avLst/>
          </a:prstGeom>
        </p:spPr>
      </p:pic>
      <p:pic>
        <p:nvPicPr>
          <p:cNvPr id="12" name="Image 1" descr="assets/blue_do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" y="182880"/>
            <a:ext cx="457200" cy="3143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9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E9B6E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Step 3:  </a:t>
            </a: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Design &amp; sketch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Draw your organism on the worksheet and give it a name.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Show how it senses the problem and how it responds.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Be as creative as you like — there are no wrong designs!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035040" y="182880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0" dirty="0">
                <a:solidFill>
                  <a:srgbClr val="000000"/>
                </a:solidFill>
              </a:rPr>
              <a:t>📝</a:t>
            </a:r>
            <a:endParaRPr lang="en-US" sz="10000" dirty="0"/>
          </a:p>
        </p:txBody>
      </p:sp>
      <p:pic>
        <p:nvPicPr>
          <p:cNvPr id="5" name="Image 0" descr="assets/bubb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4343400"/>
            <a:ext cx="457200" cy="512309"/>
          </a:xfrm>
          <a:prstGeom prst="rect">
            <a:avLst/>
          </a:prstGeom>
        </p:spPr>
      </p:pic>
      <p:pic>
        <p:nvPicPr>
          <p:cNvPr id="6" name="Image 1" descr="assets/squig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201168"/>
            <a:ext cx="502920" cy="20921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9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E9B6E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Step 4:  </a:t>
            </a: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Pitch it!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>
                <a:solidFill>
                  <a:srgbClr val="3D3A3C"/>
                </a:solidFill>
                <a:latin typeface="Quicksand" pitchFamily="34" charset="0"/>
                <a:ea typeface="Quicksand"/>
                <a:cs typeface="Quicksand" pitchFamily="34" charset="-120"/>
              </a:rPr>
              <a:t>Present your design in 30-60</a:t>
            </a:r>
            <a:r>
              <a:rPr lang="en-US" sz="1500">
                <a:solidFill>
                  <a:srgbClr val="3D3A3C"/>
                </a:solidFill>
                <a:latin typeface="Quicksand"/>
                <a:ea typeface="Quicksand" pitchFamily="34" charset="-122"/>
                <a:cs typeface="Quicksand" pitchFamily="34" charset="-120"/>
              </a:rPr>
              <a:t> seconds: the </a:t>
            </a:r>
            <a:r>
              <a:rPr lang="en-US" sz="1500" dirty="0">
                <a:solidFill>
                  <a:srgbClr val="3D3A3C"/>
                </a:solidFill>
                <a:latin typeface="Quicksand"/>
                <a:ea typeface="Quicksand" pitchFamily="34" charset="-122"/>
                <a:cs typeface="Quicksand" pitchFamily="34" charset="-120"/>
              </a:rPr>
              <a:t>problem, your organism, how it works.</a:t>
            </a:r>
            <a:endParaRPr lang="en-US" sz="1500" dirty="0">
              <a:latin typeface="Quicksand"/>
            </a:endParaRPr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 class asks: “What would you test next?”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That question — testing and improving — is the engineer’s mindset.</a:t>
            </a:r>
            <a:endParaRPr lang="en-US" sz="1500" dirty="0"/>
          </a:p>
        </p:txBody>
      </p:sp>
      <p:pic>
        <p:nvPicPr>
          <p:cNvPr id="4" name="Image 0" descr="assets/green_vir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737360"/>
            <a:ext cx="1371600" cy="1479176"/>
          </a:xfrm>
          <a:prstGeom prst="rect">
            <a:avLst/>
          </a:prstGeom>
        </p:spPr>
      </p:pic>
      <p:pic>
        <p:nvPicPr>
          <p:cNvPr id="5" name="Image 1" descr="assets/bubb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370832"/>
            <a:ext cx="457200" cy="512309"/>
          </a:xfrm>
          <a:prstGeom prst="rect">
            <a:avLst/>
          </a:prstGeom>
        </p:spPr>
      </p:pic>
      <p:pic>
        <p:nvPicPr>
          <p:cNvPr id="6" name="Image 2" descr="assets/blue_do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" y="182880"/>
            <a:ext cx="457200" cy="314325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9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Design challenge: how did this work?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12F"/>
                </a:solidFill>
                <a:highlight>
                  <a:srgbClr val="FFE9A8"/>
                </a:highlight>
                <a:latin typeface="Quicksand" pitchFamily="34" charset="0"/>
                <a:ea typeface="Quicksand" pitchFamily="34" charset="-122"/>
                <a:cs typeface="Quicksand" pitchFamily="34" charset="-120"/>
              </a:rPr>
              <a:t>What are the three parts of every design?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801368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 chassis (the body), a sensor (input), and an output (response).</a:t>
            </a:r>
            <a:endParaRPr lang="en-US" sz="1350" dirty="0"/>
          </a:p>
          <a:p>
            <a:pPr marL="203200" indent="-203200"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Combine them in new ways to solve different problems.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30632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12F"/>
                </a:solidFill>
                <a:highlight>
                  <a:srgbClr val="FAD0D9"/>
                </a:highlight>
                <a:latin typeface="Quicksand" pitchFamily="34" charset="0"/>
                <a:ea typeface="Quicksand" pitchFamily="34" charset="-122"/>
                <a:cs typeface="Quicksand" pitchFamily="34" charset="-120"/>
              </a:rPr>
              <a:t>This is exactly what a real iGEM team does!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3630168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Pick a problem, design an organism from parts, build it, test it, and improve it.</a:t>
            </a:r>
            <a:endParaRPr lang="en-US" sz="1350" dirty="0"/>
          </a:p>
          <a:p>
            <a:pPr marL="203200" indent="-203200"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You just did real synthetic-biology engineering.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03120" y="214884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Thank You!</a:t>
            </a:r>
            <a:endParaRPr lang="en-US" sz="4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Design-a-Synbio-Solution</dc:title>
  <dc:subject>PptxGenJS Presentation</dc:subject>
  <dc:creator>UChicago Genehackers</dc:creator>
  <cp:lastModifiedBy>UChicago Genehackers</cp:lastModifiedBy>
  <cp:revision>3</cp:revision>
  <dcterms:created xsi:type="dcterms:W3CDTF">2026-06-25T00:54:33Z</dcterms:created>
  <dcterms:modified xsi:type="dcterms:W3CDTF">2026-06-25T05:11:22Z</dcterms:modified>
</cp:coreProperties>
</file>