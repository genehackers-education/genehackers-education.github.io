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103120" y="2057400"/>
            <a:ext cx="49377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3800" b="1" dirty="0">
                <a:solidFill>
                  <a:srgbClr val="211F2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Clean Water</a:t>
            </a:r>
            <a:endParaRPr lang="en-US" sz="3800" dirty="0"/>
          </a:p>
        </p:txBody>
      </p:sp>
      <p:sp>
        <p:nvSpPr>
          <p:cNvPr id="3" name="Shape 1"/>
          <p:cNvSpPr/>
          <p:nvPr/>
        </p:nvSpPr>
        <p:spPr>
          <a:xfrm>
            <a:off x="2011680" y="3611880"/>
            <a:ext cx="5120640" cy="566928"/>
          </a:xfrm>
          <a:prstGeom prst="roundRect">
            <a:avLst>
              <a:gd name="adj" fmla="val 48387"/>
            </a:avLst>
          </a:prstGeom>
          <a:solidFill>
            <a:srgbClr val="FB9CB4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2011680" y="3611880"/>
            <a:ext cx="5120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2A2E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Can we detect and clean up unsafe water?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103120" y="2057400"/>
            <a:ext cx="49377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3800" b="1" dirty="0">
                <a:solidFill>
                  <a:srgbClr val="211F2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Clean Drinking Water</a:t>
            </a:r>
            <a:endParaRPr lang="en-US" sz="3800" dirty="0"/>
          </a:p>
        </p:txBody>
      </p:sp>
      <p:sp>
        <p:nvSpPr>
          <p:cNvPr id="3" name="Shape 1"/>
          <p:cNvSpPr/>
          <p:nvPr/>
        </p:nvSpPr>
        <p:spPr>
          <a:xfrm>
            <a:off x="2011680" y="3611880"/>
            <a:ext cx="5120640" cy="566928"/>
          </a:xfrm>
          <a:prstGeom prst="roundRect">
            <a:avLst>
              <a:gd name="adj" fmla="val 48387"/>
            </a:avLst>
          </a:prstGeom>
          <a:solidFill>
            <a:srgbClr val="FB9CB4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2011680" y="3611880"/>
            <a:ext cx="5120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2A2E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What makes water unsafe to drink?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DF9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11F2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What could pollute our water?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1234440"/>
            <a:ext cx="493776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lnSpc>
                <a:spcPct val="102000"/>
              </a:lnSpc>
              <a:spcAft>
                <a:spcPts val="1000"/>
              </a:spcAft>
              <a:buSzPct val="100000"/>
              <a:buChar char="–"/>
            </a:pPr>
            <a:r>
              <a:rPr lang="en-US" sz="1500" dirty="0">
                <a:solidFill>
                  <a:srgbClr val="3D3A3C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Water can pick up harmful things as it moves through the ground.</a:t>
            </a:r>
            <a:endParaRPr lang="en-US" sz="1500" dirty="0"/>
          </a:p>
          <a:p>
            <a:pPr marL="203200" indent="-203200">
              <a:lnSpc>
                <a:spcPct val="102000"/>
              </a:lnSpc>
              <a:spcAft>
                <a:spcPts val="1000"/>
              </a:spcAft>
              <a:buSzPct val="100000"/>
              <a:buChar char="–"/>
            </a:pPr>
            <a:r>
              <a:rPr lang="en-US" sz="1500" dirty="0">
                <a:solidFill>
                  <a:srgbClr val="3D3A3C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Some pollution is natural — from the environment itself.</a:t>
            </a:r>
            <a:endParaRPr lang="en-US" sz="1500" dirty="0"/>
          </a:p>
          <a:p>
            <a:pPr marL="203200" indent="-203200">
              <a:lnSpc>
                <a:spcPct val="102000"/>
              </a:lnSpc>
              <a:spcAft>
                <a:spcPts val="1000"/>
              </a:spcAft>
              <a:buSzPct val="100000"/>
              <a:buChar char="–"/>
            </a:pPr>
            <a:r>
              <a:rPr lang="en-US" sz="1500" dirty="0">
                <a:solidFill>
                  <a:srgbClr val="3D3A3C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Some pollution is human-made — from the things people do.</a:t>
            </a:r>
            <a:endParaRPr lang="en-US" sz="1500" dirty="0"/>
          </a:p>
          <a:p>
            <a:pPr marL="203200" indent="-203200">
              <a:lnSpc>
                <a:spcPct val="102000"/>
              </a:lnSpc>
              <a:buSzPct val="100000"/>
              <a:buChar char="–"/>
            </a:pPr>
            <a:r>
              <a:rPr lang="en-US" sz="1500" dirty="0">
                <a:solidFill>
                  <a:srgbClr val="3D3A3C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Let’s sort some examples into natural vs. human causes.</a:t>
            </a:r>
            <a:endParaRPr lang="en-US" sz="1500" dirty="0"/>
          </a:p>
        </p:txBody>
      </p:sp>
      <p:pic>
        <p:nvPicPr>
          <p:cNvPr id="4" name="Image 0" descr="assets/green_viru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0" y="1828800"/>
            <a:ext cx="1371600" cy="1479176"/>
          </a:xfrm>
          <a:prstGeom prst="rect">
            <a:avLst/>
          </a:prstGeom>
        </p:spPr>
      </p:pic>
      <p:pic>
        <p:nvPicPr>
          <p:cNvPr id="5" name="Image 1" descr="assets/bubble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4343400"/>
            <a:ext cx="457200" cy="512309"/>
          </a:xfrm>
          <a:prstGeom prst="rect">
            <a:avLst/>
          </a:prstGeom>
        </p:spPr>
      </p:pic>
      <p:pic>
        <p:nvPicPr>
          <p:cNvPr id="6" name="Image 2" descr="assets/squiggl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83880" y="201168"/>
            <a:ext cx="502920" cy="209215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502920" y="4846320"/>
            <a:ext cx="5486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6A66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UChicago Genehackers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DF9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11F2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Natural causes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1417320"/>
            <a:ext cx="1938528" cy="1325880"/>
          </a:xfrm>
          <a:prstGeom prst="roundRect">
            <a:avLst>
              <a:gd name="adj" fmla="val 6897"/>
            </a:avLst>
          </a:prstGeom>
          <a:solidFill>
            <a:srgbClr val="EAF6EE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365760" y="1545336"/>
            <a:ext cx="19385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🐄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38912" y="2093976"/>
            <a:ext cx="1792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11F22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Animal waste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2523744" y="1417320"/>
            <a:ext cx="1938528" cy="1325880"/>
          </a:xfrm>
          <a:prstGeom prst="roundRect">
            <a:avLst>
              <a:gd name="adj" fmla="val 6897"/>
            </a:avLst>
          </a:prstGeom>
          <a:solidFill>
            <a:srgbClr val="EAF6EE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523744" y="1545336"/>
            <a:ext cx="19385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🌊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2596896" y="2093976"/>
            <a:ext cx="1792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11F22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Silt from floods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681728" y="1417320"/>
            <a:ext cx="1938528" cy="1325880"/>
          </a:xfrm>
          <a:prstGeom prst="roundRect">
            <a:avLst>
              <a:gd name="adj" fmla="val 6897"/>
            </a:avLst>
          </a:prstGeom>
          <a:solidFill>
            <a:srgbClr val="EAF6EE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681728" y="1545336"/>
            <a:ext cx="19385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🌋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4754880" y="2093976"/>
            <a:ext cx="1792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11F22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Volcanic ash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839712" y="1417320"/>
            <a:ext cx="1938528" cy="1325880"/>
          </a:xfrm>
          <a:prstGeom prst="roundRect">
            <a:avLst>
              <a:gd name="adj" fmla="val 6897"/>
            </a:avLst>
          </a:prstGeom>
          <a:solidFill>
            <a:srgbClr val="EAF6EE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839712" y="1545336"/>
            <a:ext cx="19385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🦠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6912864" y="2093976"/>
            <a:ext cx="1792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11F22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Algae blooms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502920" y="4846320"/>
            <a:ext cx="5486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6A66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UChicago Genehackers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DF9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11F2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Human causes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39496" y="1417320"/>
            <a:ext cx="2542032" cy="1325880"/>
          </a:xfrm>
          <a:prstGeom prst="roundRect">
            <a:avLst>
              <a:gd name="adj" fmla="val 6897"/>
            </a:avLst>
          </a:prstGeom>
          <a:solidFill>
            <a:srgbClr val="FBEDED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39496" y="1545336"/>
            <a:ext cx="25420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🚽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12648" y="2093976"/>
            <a:ext cx="23957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11F22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Sewage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3300984" y="1417320"/>
            <a:ext cx="2542032" cy="1325880"/>
          </a:xfrm>
          <a:prstGeom prst="roundRect">
            <a:avLst>
              <a:gd name="adj" fmla="val 6897"/>
            </a:avLst>
          </a:prstGeom>
          <a:solidFill>
            <a:srgbClr val="FBEDED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3300984" y="1545336"/>
            <a:ext cx="25420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🌱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3374136" y="2093976"/>
            <a:ext cx="23957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11F22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Fertilizer run-off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062472" y="1417320"/>
            <a:ext cx="2542032" cy="1325880"/>
          </a:xfrm>
          <a:prstGeom prst="roundRect">
            <a:avLst>
              <a:gd name="adj" fmla="val 6897"/>
            </a:avLst>
          </a:prstGeom>
          <a:solidFill>
            <a:srgbClr val="FBEDED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062472" y="1545336"/>
            <a:ext cx="25420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🗑️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135624" y="2093976"/>
            <a:ext cx="23957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11F22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Trash &amp; waste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39496" y="2980944"/>
            <a:ext cx="2542032" cy="1325880"/>
          </a:xfrm>
          <a:prstGeom prst="roundRect">
            <a:avLst>
              <a:gd name="adj" fmla="val 6897"/>
            </a:avLst>
          </a:prstGeom>
          <a:solidFill>
            <a:srgbClr val="FBEDED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39496" y="3108960"/>
            <a:ext cx="25420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🌧️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612648" y="3657600"/>
            <a:ext cx="23957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11F22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Acid rain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3300984" y="2980944"/>
            <a:ext cx="2542032" cy="1325880"/>
          </a:xfrm>
          <a:prstGeom prst="roundRect">
            <a:avLst>
              <a:gd name="adj" fmla="val 6897"/>
            </a:avLst>
          </a:prstGeom>
          <a:solidFill>
            <a:srgbClr val="FBEDED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300984" y="3108960"/>
            <a:ext cx="25420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🛢️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3374136" y="3657600"/>
            <a:ext cx="23957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11F22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Oil spills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062472" y="2980944"/>
            <a:ext cx="2542032" cy="1325880"/>
          </a:xfrm>
          <a:prstGeom prst="roundRect">
            <a:avLst>
              <a:gd name="adj" fmla="val 6897"/>
            </a:avLst>
          </a:prstGeom>
          <a:solidFill>
            <a:srgbClr val="FBEDED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062472" y="3108960"/>
            <a:ext cx="25420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🚰</a:t>
            </a:r>
            <a:endParaRPr lang="en-US" sz="2800" dirty="0"/>
          </a:p>
        </p:txBody>
      </p:sp>
      <p:sp>
        <p:nvSpPr>
          <p:cNvPr id="20" name="Text 18"/>
          <p:cNvSpPr/>
          <p:nvPr/>
        </p:nvSpPr>
        <p:spPr>
          <a:xfrm>
            <a:off x="6135624" y="3657600"/>
            <a:ext cx="23957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11F22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Lead pipes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502920" y="4846320"/>
            <a:ext cx="5486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6A66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UChicago Genehackers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103120" y="1828800"/>
            <a:ext cx="49377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3800" b="1" dirty="0">
                <a:solidFill>
                  <a:srgbClr val="211F2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Designing an</a:t>
            </a:r>
            <a:endParaRPr lang="en-US" sz="38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3800" b="1" dirty="0">
                <a:solidFill>
                  <a:srgbClr val="211F2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Arsenic Biosensor</a:t>
            </a:r>
            <a:endParaRPr lang="en-US" sz="3800" dirty="0"/>
          </a:p>
        </p:txBody>
      </p:sp>
      <p:sp>
        <p:nvSpPr>
          <p:cNvPr id="3" name="Shape 1"/>
          <p:cNvSpPr/>
          <p:nvPr/>
        </p:nvSpPr>
        <p:spPr>
          <a:xfrm>
            <a:off x="2011680" y="3611880"/>
            <a:ext cx="5120640" cy="566928"/>
          </a:xfrm>
          <a:prstGeom prst="roundRect">
            <a:avLst>
              <a:gd name="adj" fmla="val 48387"/>
            </a:avLst>
          </a:prstGeom>
          <a:solidFill>
            <a:srgbClr val="FB9CB4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2011680" y="3611880"/>
            <a:ext cx="5120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2A2E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How can we use genetic engineering to detect contamination?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DF9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11F2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What is arsenic?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1234440"/>
            <a:ext cx="493776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lnSpc>
                <a:spcPct val="102000"/>
              </a:lnSpc>
              <a:spcAft>
                <a:spcPts val="1000"/>
              </a:spcAft>
              <a:buSzPct val="100000"/>
              <a:buChar char="–"/>
            </a:pPr>
            <a:r>
              <a:rPr lang="en-US" sz="1500" dirty="0">
                <a:solidFill>
                  <a:srgbClr val="3D3A3C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Arsenic is a naturally occurring, highly toxic element.</a:t>
            </a:r>
            <a:endParaRPr lang="en-US" sz="1500" dirty="0"/>
          </a:p>
          <a:p>
            <a:pPr marL="203200" indent="-203200">
              <a:lnSpc>
                <a:spcPct val="102000"/>
              </a:lnSpc>
              <a:spcAft>
                <a:spcPts val="1000"/>
              </a:spcAft>
              <a:buSzPct val="100000"/>
              <a:buChar char="–"/>
            </a:pPr>
            <a:r>
              <a:rPr lang="en-US" sz="1500" dirty="0">
                <a:solidFill>
                  <a:srgbClr val="3D3A3C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It can end up in groundwater from rocks, pesticides, and fertilizers.</a:t>
            </a:r>
            <a:endParaRPr lang="en-US" sz="1500" dirty="0"/>
          </a:p>
          <a:p>
            <a:pPr marL="203200" indent="-203200">
              <a:lnSpc>
                <a:spcPct val="102000"/>
              </a:lnSpc>
              <a:spcAft>
                <a:spcPts val="1000"/>
              </a:spcAft>
              <a:buSzPct val="100000"/>
              <a:buChar char="–"/>
            </a:pPr>
            <a:r>
              <a:rPr lang="en-US" sz="1500" dirty="0">
                <a:solidFill>
                  <a:srgbClr val="3D3A3C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It is invisible and tasteless in water — so it is hard to know it’s there.</a:t>
            </a:r>
            <a:endParaRPr lang="en-US" sz="1500" dirty="0"/>
          </a:p>
          <a:p>
            <a:pPr marL="203200" indent="-203200">
              <a:lnSpc>
                <a:spcPct val="102000"/>
              </a:lnSpc>
              <a:buSzPct val="100000"/>
              <a:buChar char="–"/>
            </a:pPr>
            <a:r>
              <a:rPr lang="en-US" sz="1500" dirty="0">
                <a:solidFill>
                  <a:srgbClr val="3D3A3C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How could we build something to detect it?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035040" y="1828800"/>
            <a:ext cx="23774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0" dirty="0">
                <a:solidFill>
                  <a:srgbClr val="000000"/>
                </a:solidFill>
              </a:rPr>
              <a:t>☠️</a:t>
            </a:r>
            <a:endParaRPr lang="en-US" sz="10000" dirty="0"/>
          </a:p>
        </p:txBody>
      </p:sp>
      <p:pic>
        <p:nvPicPr>
          <p:cNvPr id="5" name="Image 0" descr="assets/bubbl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47888" y="4370832"/>
            <a:ext cx="457200" cy="512309"/>
          </a:xfrm>
          <a:prstGeom prst="rect">
            <a:avLst/>
          </a:prstGeom>
        </p:spPr>
      </p:pic>
      <p:pic>
        <p:nvPicPr>
          <p:cNvPr id="6" name="Image 1" descr="assets/blue_dot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" y="182880"/>
            <a:ext cx="457200" cy="314325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02920" y="4846320"/>
            <a:ext cx="5486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6A66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UChicago Genehackers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DF9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11F2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How the biosensor works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1234440"/>
            <a:ext cx="493776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lnSpc>
                <a:spcPct val="102000"/>
              </a:lnSpc>
              <a:spcAft>
                <a:spcPts val="1000"/>
              </a:spcAft>
              <a:buSzPct val="100000"/>
              <a:buChar char="–"/>
            </a:pPr>
            <a:r>
              <a:rPr lang="en-US" sz="1500" dirty="0">
                <a:solidFill>
                  <a:srgbClr val="3D3A3C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Scientists engineer a tiny biological “switch” that reacts to arsenic.</a:t>
            </a:r>
            <a:endParaRPr lang="en-US" sz="1500" dirty="0"/>
          </a:p>
          <a:p>
            <a:pPr marL="203200" indent="-203200">
              <a:lnSpc>
                <a:spcPct val="102000"/>
              </a:lnSpc>
              <a:spcAft>
                <a:spcPts val="1000"/>
              </a:spcAft>
              <a:buSzPct val="100000"/>
              <a:buChar char="–"/>
            </a:pPr>
            <a:r>
              <a:rPr lang="en-US" sz="1500" dirty="0">
                <a:solidFill>
                  <a:srgbClr val="3D3A3C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No arsenic → the switch stays OFF → no signal.</a:t>
            </a:r>
            <a:endParaRPr lang="en-US" sz="1500" dirty="0"/>
          </a:p>
          <a:p>
            <a:pPr marL="203200" indent="-203200">
              <a:lnSpc>
                <a:spcPct val="102000"/>
              </a:lnSpc>
              <a:spcAft>
                <a:spcPts val="1000"/>
              </a:spcAft>
              <a:buSzPct val="100000"/>
              <a:buChar char="–"/>
            </a:pPr>
            <a:r>
              <a:rPr lang="en-US" sz="1500" dirty="0">
                <a:solidFill>
                  <a:srgbClr val="3D3A3C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Arsenic present → the switch turns ON → it makes a signal.</a:t>
            </a:r>
            <a:endParaRPr lang="en-US" sz="1500" dirty="0"/>
          </a:p>
          <a:p>
            <a:pPr marL="203200" indent="-203200">
              <a:lnSpc>
                <a:spcPct val="102000"/>
              </a:lnSpc>
              <a:buSzPct val="100000"/>
              <a:buChar char="–"/>
            </a:pPr>
            <a:r>
              <a:rPr lang="en-US" sz="1500" dirty="0">
                <a:solidFill>
                  <a:srgbClr val="3D3A3C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The more arsenic, the stronger the signal we can measure.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669280" y="1417320"/>
            <a:ext cx="2971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E6A66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The arsenic switch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0" y="2011680"/>
            <a:ext cx="2971800" cy="658368"/>
          </a:xfrm>
          <a:prstGeom prst="roundRect">
            <a:avLst>
              <a:gd name="adj" fmla="val 16667"/>
            </a:avLst>
          </a:prstGeom>
          <a:solidFill>
            <a:srgbClr val="21A8D8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669280" y="2011680"/>
            <a:ext cx="2971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No arsenic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switch OFF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669280" y="2852928"/>
            <a:ext cx="2971800" cy="658368"/>
          </a:xfrm>
          <a:prstGeom prst="roundRect">
            <a:avLst>
              <a:gd name="adj" fmla="val 16667"/>
            </a:avLst>
          </a:prstGeom>
          <a:solidFill>
            <a:srgbClr val="FD4426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669280" y="2852928"/>
            <a:ext cx="2971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Arsenic!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switch ON → signal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669280" y="3611880"/>
            <a:ext cx="2971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6E6A66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more signal = more arsenic</a:t>
            </a:r>
            <a:endParaRPr lang="en-US" sz="1150" dirty="0"/>
          </a:p>
        </p:txBody>
      </p:sp>
      <p:pic>
        <p:nvPicPr>
          <p:cNvPr id="10" name="Image 0" descr="assets/bubbl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" y="4343400"/>
            <a:ext cx="457200" cy="512309"/>
          </a:xfrm>
          <a:prstGeom prst="rect">
            <a:avLst/>
          </a:prstGeom>
        </p:spPr>
      </p:pic>
      <p:pic>
        <p:nvPicPr>
          <p:cNvPr id="11" name="Image 1" descr="assets/squigg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83880" y="201168"/>
            <a:ext cx="502920" cy="209215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02920" y="4846320"/>
            <a:ext cx="5486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6A66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UChicago Genehackers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103120" y="1828800"/>
            <a:ext cx="49377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3800" b="1" dirty="0">
                <a:solidFill>
                  <a:srgbClr val="211F2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Make Your Own</a:t>
            </a:r>
            <a:endParaRPr lang="en-US" sz="38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3800" b="1" dirty="0">
                <a:solidFill>
                  <a:srgbClr val="211F2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Water Filter</a:t>
            </a:r>
            <a:endParaRPr lang="en-US" sz="3800" dirty="0"/>
          </a:p>
        </p:txBody>
      </p:sp>
      <p:sp>
        <p:nvSpPr>
          <p:cNvPr id="3" name="Shape 1"/>
          <p:cNvSpPr/>
          <p:nvPr/>
        </p:nvSpPr>
        <p:spPr>
          <a:xfrm>
            <a:off x="2011680" y="3611880"/>
            <a:ext cx="5120640" cy="566928"/>
          </a:xfrm>
          <a:prstGeom prst="roundRect">
            <a:avLst>
              <a:gd name="adj" fmla="val 48387"/>
            </a:avLst>
          </a:prstGeom>
          <a:solidFill>
            <a:srgbClr val="FB9CB4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2011680" y="3611880"/>
            <a:ext cx="5120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2A2E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How can we clean up water?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DF9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0" y="457200"/>
            <a:ext cx="2743200" cy="566928"/>
          </a:xfrm>
          <a:prstGeom prst="roundRect">
            <a:avLst>
              <a:gd name="adj" fmla="val 19355"/>
            </a:avLst>
          </a:prstGeom>
          <a:solidFill>
            <a:srgbClr val="FDD42E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3200400" y="457200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11F2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Materials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2286000" y="411480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FD4426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〰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035040" y="411480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D4426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〰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667512" y="1508760"/>
            <a:ext cx="246888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67512" y="1618488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🥤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740664" y="2185416"/>
            <a:ext cx="23225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11F22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Cut 2-liter bottle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3337560" y="1508760"/>
            <a:ext cx="246888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337560" y="1618488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⚫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3410712" y="2185416"/>
            <a:ext cx="23225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11F22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Activated charcoal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007608" y="1508760"/>
            <a:ext cx="246888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007608" y="1618488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🏖️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6080760" y="2185416"/>
            <a:ext cx="23225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11F22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Sand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67512" y="2999232"/>
            <a:ext cx="246888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67512" y="310896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🪨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740664" y="3675888"/>
            <a:ext cx="23225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11F22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Gravel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3337560" y="2999232"/>
            <a:ext cx="246888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3337560" y="310896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☁️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3410712" y="3675888"/>
            <a:ext cx="23225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11F22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Cotton balls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007608" y="2999232"/>
            <a:ext cx="246888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007608" y="310896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💧</a:t>
            </a:r>
            <a:endParaRPr lang="en-US" sz="3000" dirty="0"/>
          </a:p>
        </p:txBody>
      </p:sp>
      <p:sp>
        <p:nvSpPr>
          <p:cNvPr id="23" name="Text 21"/>
          <p:cNvSpPr/>
          <p:nvPr/>
        </p:nvSpPr>
        <p:spPr>
          <a:xfrm>
            <a:off x="6080760" y="3675888"/>
            <a:ext cx="23225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11F22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“Polluted” water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502920" y="4846320"/>
            <a:ext cx="5486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6A66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UChicago Genehackers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DF9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11F2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Your task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1234440"/>
            <a:ext cx="493776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lnSpc>
                <a:spcPct val="102000"/>
              </a:lnSpc>
              <a:spcAft>
                <a:spcPts val="1000"/>
              </a:spcAft>
              <a:buSzPct val="100000"/>
              <a:buChar char="–"/>
            </a:pPr>
            <a:r>
              <a:rPr lang="en-US" sz="1500" dirty="0">
                <a:solidFill>
                  <a:srgbClr val="3D3A3C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Design a filter that cleans “polluted” water as well as possible.</a:t>
            </a:r>
            <a:endParaRPr lang="en-US" sz="1500" dirty="0"/>
          </a:p>
          <a:p>
            <a:pPr marL="203200" indent="-203200">
              <a:lnSpc>
                <a:spcPct val="102000"/>
              </a:lnSpc>
              <a:spcAft>
                <a:spcPts val="1000"/>
              </a:spcAft>
              <a:buSzPct val="100000"/>
              <a:buChar char="–"/>
            </a:pPr>
            <a:r>
              <a:rPr lang="en-US" sz="1500" dirty="0">
                <a:solidFill>
                  <a:srgbClr val="3D3A3C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You choose how to layer the materials inside the bottle funnel.</a:t>
            </a:r>
            <a:endParaRPr lang="en-US" sz="1500" dirty="0"/>
          </a:p>
          <a:p>
            <a:pPr marL="203200" indent="-203200">
              <a:lnSpc>
                <a:spcPct val="102000"/>
              </a:lnSpc>
              <a:buSzPct val="100000"/>
              <a:buChar char="–"/>
            </a:pPr>
            <a:r>
              <a:rPr lang="en-US" sz="1500" dirty="0">
                <a:solidFill>
                  <a:srgbClr val="3D3A3C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Then test it, see how clean the water comes out, and improve it.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035040" y="1828800"/>
            <a:ext cx="23774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0" dirty="0">
                <a:solidFill>
                  <a:srgbClr val="000000"/>
                </a:solidFill>
              </a:rPr>
              <a:t>💧</a:t>
            </a:r>
            <a:endParaRPr lang="en-US" sz="11000" dirty="0"/>
          </a:p>
        </p:txBody>
      </p:sp>
      <p:pic>
        <p:nvPicPr>
          <p:cNvPr id="5" name="Image 0" descr="assets/bubbl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47888" y="4370832"/>
            <a:ext cx="457200" cy="512309"/>
          </a:xfrm>
          <a:prstGeom prst="rect">
            <a:avLst/>
          </a:prstGeom>
        </p:spPr>
      </p:pic>
      <p:pic>
        <p:nvPicPr>
          <p:cNvPr id="6" name="Image 1" descr="assets/blue_dot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" y="182880"/>
            <a:ext cx="457200" cy="314325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02920" y="4846320"/>
            <a:ext cx="5486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6A66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UChicago Genehackers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DF9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9B6E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Step 1:  </a:t>
            </a:r>
            <a:pPr algn="l" indent="0" marL="0">
              <a:buNone/>
            </a:pPr>
            <a:r>
              <a:rPr lang="en-US" sz="2600" b="1" dirty="0">
                <a:solidFill>
                  <a:srgbClr val="211F2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Build your filter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02920" y="1234440"/>
            <a:ext cx="493776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lnSpc>
                <a:spcPct val="102000"/>
              </a:lnSpc>
              <a:spcAft>
                <a:spcPts val="1000"/>
              </a:spcAft>
              <a:buSzPct val="100000"/>
              <a:buChar char="–"/>
            </a:pPr>
            <a:r>
              <a:rPr lang="en-US" sz="1500" dirty="0">
                <a:solidFill>
                  <a:srgbClr val="3D3A3C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Turn the cut bottle upside-down to make a funnel.</a:t>
            </a:r>
            <a:endParaRPr lang="en-US" sz="1500" dirty="0"/>
          </a:p>
          <a:p>
            <a:pPr marL="203200" indent="-203200">
              <a:lnSpc>
                <a:spcPct val="102000"/>
              </a:lnSpc>
              <a:spcAft>
                <a:spcPts val="1000"/>
              </a:spcAft>
              <a:buSzPct val="100000"/>
              <a:buChar char="–"/>
            </a:pPr>
            <a:r>
              <a:rPr lang="en-US" sz="1500" dirty="0">
                <a:solidFill>
                  <a:srgbClr val="3D3A3C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Layer your materials inside (cotton, sand, charcoal, gravel...).</a:t>
            </a:r>
            <a:endParaRPr lang="en-US" sz="1500" dirty="0"/>
          </a:p>
          <a:p>
            <a:pPr marL="203200" indent="-203200">
              <a:lnSpc>
                <a:spcPct val="102000"/>
              </a:lnSpc>
              <a:buSzPct val="100000"/>
              <a:buChar char="–"/>
            </a:pPr>
            <a:r>
              <a:rPr lang="en-US" sz="1500" dirty="0">
                <a:solidFill>
                  <a:srgbClr val="3D3A3C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There is no single right answer — design your own!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669280" y="1417320"/>
            <a:ext cx="2971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E6A66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Layer them up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852160" y="1828800"/>
            <a:ext cx="2560320" cy="457200"/>
          </a:xfrm>
          <a:prstGeom prst="roundRect">
            <a:avLst>
              <a:gd name="adj" fmla="val 24000"/>
            </a:avLst>
          </a:prstGeom>
          <a:solidFill>
            <a:srgbClr val="6E6A66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852160" y="182880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Gravel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852160" y="2395728"/>
            <a:ext cx="2560320" cy="457200"/>
          </a:xfrm>
          <a:prstGeom prst="roundRect">
            <a:avLst>
              <a:gd name="adj" fmla="val 24000"/>
            </a:avLst>
          </a:prstGeom>
          <a:solidFill>
            <a:srgbClr val="D9B26A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852160" y="239572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11F2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Sand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852160" y="2962656"/>
            <a:ext cx="2560320" cy="457200"/>
          </a:xfrm>
          <a:prstGeom prst="roundRect">
            <a:avLst>
              <a:gd name="adj" fmla="val 24000"/>
            </a:avLst>
          </a:prstGeom>
          <a:solidFill>
            <a:srgbClr val="333333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852160" y="2962656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Charcoal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852160" y="3529584"/>
            <a:ext cx="2560320" cy="457200"/>
          </a:xfrm>
          <a:prstGeom prst="roundRect">
            <a:avLst>
              <a:gd name="adj" fmla="val 24000"/>
            </a:avLst>
          </a:prstGeom>
          <a:solidFill>
            <a:srgbClr val="1DC48E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852160" y="3529584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Cotton</a:t>
            </a:r>
            <a:endParaRPr lang="en-US" sz="1250" dirty="0"/>
          </a:p>
        </p:txBody>
      </p:sp>
      <p:pic>
        <p:nvPicPr>
          <p:cNvPr id="13" name="Image 0" descr="assets/bubbl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" y="4343400"/>
            <a:ext cx="457200" cy="512309"/>
          </a:xfrm>
          <a:prstGeom prst="rect">
            <a:avLst/>
          </a:prstGeom>
        </p:spPr>
      </p:pic>
      <p:pic>
        <p:nvPicPr>
          <p:cNvPr id="14" name="Image 1" descr="assets/squigg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83880" y="201168"/>
            <a:ext cx="502920" cy="209215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502920" y="4846320"/>
            <a:ext cx="5486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6A66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UChicago Genehackers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DF9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9B6E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Step 2:  </a:t>
            </a:r>
            <a:pPr algn="l" indent="0" marL="0">
              <a:buNone/>
            </a:pPr>
            <a:r>
              <a:rPr lang="en-US" sz="2600" b="1" dirty="0">
                <a:solidFill>
                  <a:srgbClr val="211F2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Test it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02920" y="1234440"/>
            <a:ext cx="493776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lnSpc>
                <a:spcPct val="102000"/>
              </a:lnSpc>
              <a:spcAft>
                <a:spcPts val="1000"/>
              </a:spcAft>
              <a:buSzPct val="100000"/>
              <a:buChar char="–"/>
            </a:pPr>
            <a:r>
              <a:rPr lang="en-US" sz="1500" dirty="0">
                <a:solidFill>
                  <a:srgbClr val="3D3A3C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Slowly pour a fixed amount of polluted water through the filter.</a:t>
            </a:r>
            <a:endParaRPr lang="en-US" sz="1500" dirty="0"/>
          </a:p>
          <a:p>
            <a:pPr marL="203200" indent="-203200">
              <a:lnSpc>
                <a:spcPct val="102000"/>
              </a:lnSpc>
              <a:spcAft>
                <a:spcPts val="1000"/>
              </a:spcAft>
              <a:buSzPct val="100000"/>
              <a:buChar char="–"/>
            </a:pPr>
            <a:r>
              <a:rPr lang="en-US" sz="1500" dirty="0">
                <a:solidFill>
                  <a:srgbClr val="3D3A3C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Watch what comes out the bottom.</a:t>
            </a:r>
            <a:endParaRPr lang="en-US" sz="1500" dirty="0"/>
          </a:p>
          <a:p>
            <a:pPr marL="203200" indent="-203200">
              <a:lnSpc>
                <a:spcPct val="102000"/>
              </a:lnSpc>
              <a:buSzPct val="100000"/>
              <a:buChar char="–"/>
            </a:pPr>
            <a:r>
              <a:rPr lang="en-US" sz="1500" dirty="0">
                <a:solidFill>
                  <a:srgbClr val="3D3A3C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Record how clean (or cloudy) the filtered water looks.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035040" y="1828800"/>
            <a:ext cx="23774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0" dirty="0">
                <a:solidFill>
                  <a:srgbClr val="000000"/>
                </a:solidFill>
              </a:rPr>
              <a:t>🥤</a:t>
            </a:r>
            <a:endParaRPr lang="en-US" sz="10000" dirty="0"/>
          </a:p>
        </p:txBody>
      </p:sp>
      <p:pic>
        <p:nvPicPr>
          <p:cNvPr id="5" name="Image 0" descr="assets/bubbl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47888" y="4370832"/>
            <a:ext cx="457200" cy="512309"/>
          </a:xfrm>
          <a:prstGeom prst="rect">
            <a:avLst/>
          </a:prstGeom>
        </p:spPr>
      </p:pic>
      <p:pic>
        <p:nvPicPr>
          <p:cNvPr id="6" name="Image 1" descr="assets/blue_dot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" y="182880"/>
            <a:ext cx="457200" cy="314325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02920" y="4846320"/>
            <a:ext cx="5486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6A66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UChicago Genehackers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DF9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9B6E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Step 3:  </a:t>
            </a:r>
            <a:pPr algn="l" indent="0" marL="0">
              <a:buNone/>
            </a:pPr>
            <a:r>
              <a:rPr lang="en-US" sz="2600" b="1" dirty="0">
                <a:solidFill>
                  <a:srgbClr val="211F2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Improve &amp; present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02920" y="1234440"/>
            <a:ext cx="493776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lnSpc>
                <a:spcPct val="102000"/>
              </a:lnSpc>
              <a:spcAft>
                <a:spcPts val="1000"/>
              </a:spcAft>
              <a:buSzPct val="100000"/>
              <a:buChar char="–"/>
            </a:pPr>
            <a:r>
              <a:rPr lang="en-US" sz="1500" dirty="0">
                <a:solidFill>
                  <a:srgbClr val="3D3A3C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Try a new combination of materials to do even better.</a:t>
            </a:r>
            <a:endParaRPr lang="en-US" sz="1500" dirty="0"/>
          </a:p>
          <a:p>
            <a:pPr marL="203200" indent="-203200">
              <a:lnSpc>
                <a:spcPct val="102000"/>
              </a:lnSpc>
              <a:spcAft>
                <a:spcPts val="1000"/>
              </a:spcAft>
              <a:buSzPct val="100000"/>
              <a:buChar char="–"/>
            </a:pPr>
            <a:r>
              <a:rPr lang="en-US" sz="1500" dirty="0">
                <a:solidFill>
                  <a:srgbClr val="3D3A3C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Compare results with other groups.</a:t>
            </a:r>
            <a:endParaRPr lang="en-US" sz="1500" dirty="0"/>
          </a:p>
          <a:p>
            <a:pPr marL="203200" indent="-203200">
              <a:lnSpc>
                <a:spcPct val="102000"/>
              </a:lnSpc>
              <a:buSzPct val="100000"/>
              <a:buChar char="–"/>
            </a:pPr>
            <a:r>
              <a:rPr lang="en-US" sz="1500" dirty="0">
                <a:solidFill>
                  <a:srgbClr val="3D3A3C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Present: what did you use, and whose water came out cleanest?</a:t>
            </a:r>
            <a:endParaRPr lang="en-US" sz="1500" dirty="0"/>
          </a:p>
        </p:txBody>
      </p:sp>
      <p:pic>
        <p:nvPicPr>
          <p:cNvPr id="4" name="Image 0" descr="assets/green_viru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0" y="1737360"/>
            <a:ext cx="1371600" cy="1479176"/>
          </a:xfrm>
          <a:prstGeom prst="rect">
            <a:avLst/>
          </a:prstGeom>
        </p:spPr>
      </p:pic>
      <p:pic>
        <p:nvPicPr>
          <p:cNvPr id="5" name="Image 1" descr="assets/bubble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4343400"/>
            <a:ext cx="457200" cy="512309"/>
          </a:xfrm>
          <a:prstGeom prst="rect">
            <a:avLst/>
          </a:prstGeom>
        </p:spPr>
      </p:pic>
      <p:pic>
        <p:nvPicPr>
          <p:cNvPr id="6" name="Image 2" descr="assets/squiggl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83880" y="201168"/>
            <a:ext cx="502920" cy="209215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502920" y="4846320"/>
            <a:ext cx="5486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6A66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UChicago Genehackers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DF9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11F2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Clean water: how did this work?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02920" y="1234440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3312F"/>
                </a:solidFill>
                <a:highlight>
                  <a:srgbClr val="FFE9A8"/>
                </a:highlight>
                <a:latin typeface="Quicksand" pitchFamily="34" charset="0"/>
                <a:ea typeface="Quicksand" pitchFamily="34" charset="-122"/>
                <a:cs typeface="Quicksand" pitchFamily="34" charset="-120"/>
              </a:rPr>
              <a:t>What’s the difference between natural and human contamination?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85800" y="1801368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600"/>
              </a:spcAft>
              <a:buSzPct val="100000"/>
              <a:buChar char="–"/>
            </a:pPr>
            <a:r>
              <a:rPr lang="en-US" sz="1350" dirty="0">
                <a:solidFill>
                  <a:srgbClr val="3D3A3C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Natural comes from the environment (algae, animal waste, ash).</a:t>
            </a:r>
            <a:endParaRPr lang="en-US" sz="1350" dirty="0"/>
          </a:p>
          <a:p>
            <a:pPr marL="203200" indent="-203200">
              <a:buSzPct val="100000"/>
              <a:buChar char="–"/>
            </a:pPr>
            <a:r>
              <a:rPr lang="en-US" sz="1350" dirty="0">
                <a:solidFill>
                  <a:srgbClr val="3D3A3C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Human comes from our activity (sewage, fertilizer, oil, lead pipes).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502920" y="3063240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3312F"/>
                </a:solidFill>
                <a:highlight>
                  <a:srgbClr val="FAD0D9"/>
                </a:highlight>
                <a:latin typeface="Quicksand" pitchFamily="34" charset="0"/>
                <a:ea typeface="Quicksand" pitchFamily="34" charset="-122"/>
                <a:cs typeface="Quicksand" pitchFamily="34" charset="-120"/>
              </a:rPr>
              <a:t>Which filter worked best, and what would you change?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85800" y="3630168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600"/>
              </a:spcAft>
              <a:buSzPct val="100000"/>
              <a:buChar char="–"/>
            </a:pPr>
            <a:r>
              <a:rPr lang="en-US" sz="1350" dirty="0">
                <a:solidFill>
                  <a:srgbClr val="3D3A3C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Engineering means testing, comparing, and improving — that’s the design cycle.</a:t>
            </a:r>
            <a:endParaRPr lang="en-US" sz="1350" dirty="0"/>
          </a:p>
          <a:p>
            <a:pPr marL="203200" indent="-203200">
              <a:buSzPct val="100000"/>
              <a:buChar char="–"/>
            </a:pPr>
            <a:r>
              <a:rPr lang="en-US" sz="1350" dirty="0">
                <a:solidFill>
                  <a:srgbClr val="3D3A3C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Synthetic biologists both detect problems (biosensors) and solve them (filters).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502920" y="4846320"/>
            <a:ext cx="5486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6A66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UChicago Genehackers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103120" y="2148840"/>
            <a:ext cx="49377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211F2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Thank You!</a:t>
            </a:r>
            <a:endParaRPr lang="en-US" sz="4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Clean Water</dc:title>
  <dc:subject>PptxGenJS Presentation</dc:subject>
  <dc:creator>UChicago Genehackers</dc:creator>
  <cp:lastModifiedBy>UChicago Genehackers</cp:lastModifiedBy>
  <cp:revision>1</cp:revision>
  <dcterms:created xsi:type="dcterms:W3CDTF">2026-06-25T00:54:33Z</dcterms:created>
  <dcterms:modified xsi:type="dcterms:W3CDTF">2026-06-25T00:54:33Z</dcterms:modified>
</cp:coreProperties>
</file>